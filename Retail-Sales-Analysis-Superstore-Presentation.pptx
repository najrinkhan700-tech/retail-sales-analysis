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Inter Black"/>
      <p:regular r:id="rId201317"/>
    </p:embeddedFont>
    <p:embeddedFont>
      <p:font typeface="Petrona"/>
      <p:regular r:id="rId201318"/>
    </p:embeddedFont>
    <p:embeddedFont>
      <p:font typeface="Petrona SemiBold"/>
      <p:regular r:id="rId201319"/>
    </p:embeddedFont>
    <p:embeddedFont>
      <p:font typeface="Petrona Bold"/>
      <p:regular r:id="rId201320"/>
    </p:embeddedFont>
    <p:embeddedFont>
      <p:font typeface="Petrona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9.png"/><Relationship Id="rId12" Type="http://schemas.openxmlformats.org/officeDocument/2006/relationships/image" Target="../media/image-10-10.svg"/><Relationship Id="rId13" Type="http://schemas.openxmlformats.org/officeDocument/2006/relationships/image" Target="../media/image-10-13.jpe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2F1D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9" y="121741"/>
            <a:ext cx="4409568" cy="66145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3974"/>
            <a:ext cx="6296860" cy="1066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spc="-67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Retail Sales Analysis — Superstore (2014–2017)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5233360" y="1799332"/>
            <a:ext cx="690644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• Microsoft SQL Server • Power BI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233360" y="2197894"/>
            <a:ext cx="6296860" cy="929382"/>
          </a:xfrm>
          <a:prstGeom prst="roundRect">
            <a:avLst>
              <a:gd name="adj" fmla="val 7341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02127" y="2366665"/>
            <a:ext cx="5959326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4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Sales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02127" y="2716907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₹2.30M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33360" y="3266777"/>
            <a:ext cx="6296860" cy="929382"/>
          </a:xfrm>
          <a:prstGeom prst="roundRect">
            <a:avLst>
              <a:gd name="adj" fmla="val 7341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02127" y="3435548"/>
            <a:ext cx="5959326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4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Profit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402127" y="3785791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₹286K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233360" y="4335661"/>
            <a:ext cx="6296860" cy="929382"/>
          </a:xfrm>
          <a:prstGeom prst="roundRect">
            <a:avLst>
              <a:gd name="adj" fmla="val 7341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02127" y="4504432"/>
            <a:ext cx="5959326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4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Orders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402127" y="4854674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9,994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233360" y="5404545"/>
            <a:ext cx="6296860" cy="929382"/>
          </a:xfrm>
          <a:prstGeom prst="roundRect">
            <a:avLst>
              <a:gd name="adj" fmla="val 7341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02127" y="5573316"/>
            <a:ext cx="5959326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4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Profit Margin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402127" y="5923558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12.47%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232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Executive Summary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302557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9,994 orders (2014–2017) to reveal profit drivers, loss areas, and guide pricing, discounting, and regional strategy.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800475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takeaway: Technology drives most profit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Furniture (Tables, Bookcases) drags profitability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 region leads; Central lags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2128639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905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Snapshot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45370"/>
            <a:ext cx="4070744" cy="40708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99726" y="2291655"/>
            <a:ext cx="3073819" cy="1494631"/>
          </a:xfrm>
          <a:prstGeom prst="roundRect">
            <a:avLst>
              <a:gd name="adj" fmla="val 5312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5083" y="2487017"/>
            <a:ext cx="26831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Rows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395083" y="2986087"/>
            <a:ext cx="2683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9,994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62552" y="2291655"/>
            <a:ext cx="3073918" cy="1494631"/>
          </a:xfrm>
          <a:prstGeom prst="roundRect">
            <a:avLst>
              <a:gd name="adj" fmla="val 5312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57909" y="2487017"/>
            <a:ext cx="26832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fields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657909" y="2986087"/>
            <a:ext cx="2683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Order, Customer, Location, Product, Sales, Profit, Discount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199726" y="3975298"/>
            <a:ext cx="3073819" cy="1494631"/>
          </a:xfrm>
          <a:prstGeom prst="roundRect">
            <a:avLst>
              <a:gd name="adj" fmla="val 5312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5083" y="4170660"/>
            <a:ext cx="26831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quality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395083" y="4669730"/>
            <a:ext cx="2683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missing values; no duplicates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462552" y="3975298"/>
            <a:ext cx="3073918" cy="1494631"/>
          </a:xfrm>
          <a:prstGeom prst="roundRect">
            <a:avLst>
              <a:gd name="adj" fmla="val 5312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57909" y="4170660"/>
            <a:ext cx="26832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Engineered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8657909" y="4669730"/>
            <a:ext cx="2683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order_year, order_month, shipping_days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653"/>
            <a:ext cx="10868745" cy="600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76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Category Performance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81659"/>
            <a:ext cx="6908330" cy="43613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2826" y="1553170"/>
            <a:ext cx="35136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spc="-29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Technology: highest sales &amp; profit. Furniture: high sales, low profit — big sales-to-profit gap.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826" y="2617986"/>
            <a:ext cx="3513645" cy="3513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41567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&amp; Worst Products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413919"/>
            <a:ext cx="762378" cy="952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087" y="3413919"/>
            <a:ext cx="246681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Best seller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660087" y="3837384"/>
            <a:ext cx="246681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 imageCLASS 2200 — 20 units, ₹61,599.82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3413919"/>
            <a:ext cx="762378" cy="952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746" y="3413919"/>
            <a:ext cx="246681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Worst loss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361746" y="3837384"/>
            <a:ext cx="246681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Cubify CubeX 3D Printer — Profit: -₹8,879.97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3413919"/>
            <a:ext cx="762378" cy="952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406" y="3413919"/>
            <a:ext cx="246681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Loss-makers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063406" y="3837384"/>
            <a:ext cx="246681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tables &amp; bookcases among top losses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653"/>
            <a:ext cx="10868745" cy="600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76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Regional Results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81659"/>
            <a:ext cx="6908330" cy="43613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2826" y="1553170"/>
            <a:ext cx="35136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spc="-29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 leads profitability; Central shows low profit despite mid sales — investigate costs/discounts.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826" y="2617986"/>
            <a:ext cx="3513645" cy="35137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64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73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Discounts vs Profit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013400" y="1558627"/>
            <a:ext cx="352307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Furniture: highest avg discount (17.4%) and lowest avg profit per order. Technology: lowest discount and best margin.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400" y="2569369"/>
            <a:ext cx="3523070" cy="35231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705"/>
            <a:ext cx="10868745" cy="53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spc="-67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Order &amp; Shipping Insights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13793"/>
            <a:ext cx="6925990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0084" y="1400671"/>
            <a:ext cx="3546485" cy="1064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Class ~60% of orders and sales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shipping days: Same Day 0, First 2, Second 3, Standard 5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orders: 1,871 / 9,994 = 18.72%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084" y="2621657"/>
            <a:ext cx="3546485" cy="35465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39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Trends &amp; Seasonality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01701"/>
            <a:ext cx="6903269" cy="4358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698625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grew year-over-year. Peak months: Nov/Dec (seasonal spikes).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251" y="2516088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8848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61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Recommendations &amp; Conclusion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44017"/>
            <a:ext cx="2630719" cy="13076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4356" y="1510705"/>
            <a:ext cx="2221155" cy="484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Furniture Discounts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04356" y="2064246"/>
            <a:ext cx="222115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 discounts on Tables &amp; Bookcases to recover margin.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7484" y="1344017"/>
            <a:ext cx="2630719" cy="13076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0365" y="1510705"/>
            <a:ext cx="22211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Investigate Loss Products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650365" y="1822053"/>
            <a:ext cx="222115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Reprice or limit discounts on 3D printers and large tables.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3492" y="1344017"/>
            <a:ext cx="2630719" cy="13076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96374" y="1510705"/>
            <a:ext cx="22211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Invest in Technology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396374" y="1822053"/>
            <a:ext cx="222115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inventory &amp; marketing for Tech (high profit per order).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99501" y="1344017"/>
            <a:ext cx="2630719" cy="130760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2382" y="1510705"/>
            <a:ext cx="22211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Regional Focus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9142382" y="1822053"/>
            <a:ext cx="2221155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Central region for costs/discounting; replicate West practices.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2766913"/>
            <a:ext cx="2630719" cy="10654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04356" y="2933601"/>
            <a:ext cx="22211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Plan Seasonality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904356" y="3244949"/>
            <a:ext cx="222115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 &amp; inventory scale-up before Nov/Dec peaks.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07484" y="2766913"/>
            <a:ext cx="2630719" cy="106541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650365" y="2933601"/>
            <a:ext cx="22211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Account Reviews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3650365" y="3244949"/>
            <a:ext cx="222115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Reassess high-spend, low-profit customers (e.g., Sean Miller).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661475" y="4990405"/>
            <a:ext cx="754817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workflow: Clean in Python → Analyze in SQL → Communicate in Power BI</a:t>
            </a:r>
            <a:endParaRPr lang="en-US" sz="11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66570" y="4091880"/>
            <a:ext cx="3569901" cy="20074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2026-09-09T11:42:49Z</dcterms:created>
  <dcterms:modified xsi:type="dcterms:W3CDTF">2026-09-09T11:42:49Z</dcterms:modified>
</cp:coreProperties>
</file>